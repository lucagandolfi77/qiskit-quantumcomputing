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Hybrid Quantum-Classical Optimization for Server-VM Allocation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Comparative Study of ADMM-QAOA vs Classical Solvers using Qiskit and DOcplex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Goal: Optimize the allocation of Virtual Machines (VMs) to physical servers.</a:t>
            </a:r>
          </a:p>
          <a:p>
            <a:pPr>
              <a:defRPr sz="2400"/>
            </a:pPr>
            <a:r>
              <a:t>Methodology: Formulate a Mixed-Integer Quadratic Program (MIQP) and compare classical vs. quantum-inspired optimization pipelines.</a:t>
            </a:r>
          </a:p>
          <a:p>
            <a:pPr>
              <a:defRPr sz="2400"/>
            </a:pPr>
            <a:r>
              <a:t>Classical Pipeline: ADMM with Exact Minimum Eigensolver and COBYLA.</a:t>
            </a:r>
          </a:p>
          <a:p>
            <a:pPr>
              <a:defRPr sz="2400"/>
            </a:pPr>
            <a:r>
              <a:t>Quantum Pipeline: ADMM with QAOA (Statevector Sampler) and COBYLA.</a:t>
            </a:r>
          </a:p>
          <a:p>
            <a:pPr>
              <a:defRPr sz="2400"/>
            </a:pPr>
            <a:r>
              <a:t>Implementation: Python, using IBM's DOcplex for modeling and Qiskit Optimization for solver execution.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Mathematical Formulation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Decision Variables:</a:t>
            </a:r>
          </a:p>
          <a:p>
            <a:pPr lvl="1">
              <a:defRPr sz="2000"/>
            </a:pPr>
            <a:r>
              <a:t>Binary variables s_i: indicates if server i is active.</a:t>
            </a:r>
          </a:p>
          <a:p>
            <a:pPr lvl="1">
              <a:defRPr sz="2000"/>
            </a:pPr>
            <a:r>
              <a:t>Continuous variables v_{j,i}: load of VM j allocated to server i.</a:t>
            </a:r>
          </a:p>
          <a:p>
            <a:pPr lvl="1">
              <a:defRPr sz="2000"/>
            </a:pPr>
            <a:r>
              <a:t>Continuous variables u_j: auxiliary variables enforcing minimum CPU per VM.</a:t>
            </a:r>
          </a:p>
          <a:p>
            <a:pPr>
              <a:defRPr sz="2400"/>
            </a:pPr>
            <a:r>
              <a:t>Objective Function:</a:t>
            </a:r>
          </a:p>
          <a:p>
            <a:pPr lvl="1">
              <a:defRPr sz="2000"/>
            </a:pPr>
            <a:r>
              <a:t>Minimize total cost: static cost for active servers + dynamic cost based on VM allocation.</a:t>
            </a:r>
          </a:p>
          <a:p>
            <a:pPr>
              <a:defRPr sz="2400"/>
            </a:pPr>
            <a:r>
              <a:t>Constraints:</a:t>
            </a:r>
          </a:p>
          <a:p>
            <a:pPr lvl="1">
              <a:defRPr sz="2000"/>
            </a:pPr>
            <a:r>
              <a:t>Server Capacity: Total VM load on server i cannot exceed (capacity - 1).</a:t>
            </a:r>
          </a:p>
          <a:p>
            <a:pPr lvl="1">
              <a:defRPr sz="2000"/>
            </a:pPr>
            <a:r>
              <a:t>VM Limits: Total allocation of VM j across all servers must equal the required limit.</a:t>
            </a:r>
          </a:p>
          <a:p>
            <a:pPr lvl="1">
              <a:defRPr sz="2000"/>
            </a:pPr>
            <a:r>
              <a:t>Minimum CPU: Enforce hardware requirements for each virtual machine.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qiskit_opt.py: Core optimization script.</a:t>
            </a:r>
          </a:p>
          <a:p>
            <a:pPr lvl="1">
              <a:defRPr sz="2000"/>
            </a:pPr>
            <a:r>
              <a:t>Constructs DOcplex model and translates it to Qiskit's QuadraticProgram.</a:t>
            </a:r>
          </a:p>
          <a:p>
            <a:pPr lvl="1">
              <a:defRPr sz="2000"/>
            </a:pPr>
            <a:r>
              <a:t>Implements a custom pre-check to guarantee structural feasibility.</a:t>
            </a:r>
          </a:p>
          <a:p>
            <a:pPr lvl="1">
              <a:defRPr sz="2000"/>
            </a:pPr>
            <a:r>
              <a:t>Applies a custom snap_to_feasible heuristic to resolve strict tolerance issues at constraint boundaries.</a:t>
            </a:r>
          </a:p>
          <a:p>
            <a:pPr>
              <a:defRPr sz="2400"/>
            </a:pPr>
            <a:r>
              <a:t>run_batch_qiskit.py: Orchestration script.</a:t>
            </a:r>
          </a:p>
          <a:p>
            <a:pPr lvl="1">
              <a:defRPr sz="2000"/>
            </a:pPr>
            <a:r>
              <a:t>Automates 36 experimental runs varying Servers (1-6) and VMs (1-6).</a:t>
            </a:r>
          </a:p>
          <a:p>
            <a:pPr lvl="1">
              <a:defRPr sz="2000"/>
            </a:pPr>
            <a:r>
              <a:t>Calculates safe VM allocation limits dynamically to ensure the batch is logically solvable.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Campaign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Total Configurations Tested: 36 (1 to 6 Servers, 1 to 6 VMs).</a:t>
            </a:r>
          </a:p>
          <a:p>
            <a:pPr>
              <a:defRPr sz="2400"/>
            </a:pPr>
            <a:r>
              <a:t>Classical Solver Success Rate: 100.0%</a:t>
            </a:r>
          </a:p>
          <a:p>
            <a:pPr>
              <a:defRPr sz="2400"/>
            </a:pPr>
            <a:r>
              <a:t>Quantum Solver Success Rate: 100.0%</a:t>
            </a:r>
          </a:p>
          <a:p>
            <a:pPr>
              <a:defRPr sz="2400"/>
            </a:pPr>
            <a:r>
              <a:t>Feasibility Guarantee: The pre-check and boundary-snapping logic successfully eliminated INFEASIBLE outcomes.</a:t>
            </a:r>
          </a:p>
          <a:p>
            <a:pPr>
              <a:defRPr sz="2400"/>
            </a:pPr>
            <a:r>
              <a:t>Objective Values: Both Classical and Quantum pipelines converged to identical minimum objective values across all 36 runs.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Aggregate Performance Metrics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103327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44240"/>
                <a:gridCol w="3444240"/>
                <a:gridCol w="3444240"/>
              </a:tblGrid>
              <a:tr h="822960">
                <a:tc>
                  <a:txBody>
                    <a:bodyPr/>
                    <a:lstStyle/>
                    <a:p>
                      <a:pPr>
                        <a:defRPr b="1" sz="1800"/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800"/>
                      </a:pPr>
                      <a:r>
                        <a:t>Classical Pipeline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800"/>
                      </a:pPr>
                      <a:r>
                        <a:t>Quantum Pipeline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Total Runs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36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Success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100.0%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Mean Runtime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2.263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10.834</a:t>
                      </a:r>
                    </a:p>
                  </a:txBody>
                  <a:tcPr/>
                </a:tc>
              </a:tr>
              <a:tr h="822960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Max Runtime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14.280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59.478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Scalability Analysis by Number of VMs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103327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180"/>
                <a:gridCol w="2583180"/>
                <a:gridCol w="2583180"/>
                <a:gridCol w="2583180"/>
              </a:tblGrid>
              <a:tr h="587828">
                <a:tc>
                  <a:txBody>
                    <a:bodyPr/>
                    <a:lstStyle/>
                    <a:p>
                      <a:pPr>
                        <a:defRPr b="1" sz="1800"/>
                      </a:pPr>
                      <a:r>
                        <a:t>Number of VMs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800"/>
                      </a:pPr>
                      <a:r>
                        <a:t>Mean Classical Time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800"/>
                      </a:pPr>
                      <a:r>
                        <a:t>Mean Quantum Time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800"/>
                      </a:pPr>
                      <a:r>
                        <a:t>Quantum/Classical Ratio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0.281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6.034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21.472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0.802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6.864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8.557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1.624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14.054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8.654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1.849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10.958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5.925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3.092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10.020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3.241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5.929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17.074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2.880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Scalability Analysis by Number of Servers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1033272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83180"/>
                <a:gridCol w="2583180"/>
                <a:gridCol w="2583180"/>
                <a:gridCol w="2583180"/>
              </a:tblGrid>
              <a:tr h="587828">
                <a:tc>
                  <a:txBody>
                    <a:bodyPr/>
                    <a:lstStyle/>
                    <a:p>
                      <a:pPr>
                        <a:defRPr b="1" sz="1800"/>
                      </a:pPr>
                      <a:r>
                        <a:t>Number of Servers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800"/>
                      </a:pPr>
                      <a:r>
                        <a:t>Mean Classical Time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800"/>
                      </a:pPr>
                      <a:r>
                        <a:t>Mean Quantum Time (s)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800"/>
                      </a:pPr>
                      <a:r>
                        <a:t>Quantum/Classical Ratio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0.329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1.409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4.290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0.665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2.309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3.473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1.322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4.406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3.333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4.570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12.533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2.743</a:t>
                      </a:r>
                    </a:p>
                  </a:txBody>
                  <a:tcPr/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2.061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8.836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4.288</a:t>
                      </a:r>
                    </a:p>
                  </a:txBody>
                  <a:tcPr/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4.632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35.511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/>
                      </a:pPr>
                      <a:r>
                        <a:t>7.667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 &amp;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Solution Quality: QAOA-based ADMM perfectly matches the exact classical solver in determining optimal allocation.</a:t>
            </a:r>
          </a:p>
          <a:p>
            <a:pPr>
              <a:defRPr sz="2400"/>
            </a:pPr>
            <a:r>
              <a:t>Computational Overhead: The Quantum pipeline is significantly slower.</a:t>
            </a:r>
          </a:p>
          <a:p>
            <a:pPr lvl="1">
              <a:defRPr sz="2000"/>
            </a:pPr>
            <a:r>
              <a:t>On average, the quantum execution takes 4.8x longer than the classical approach.</a:t>
            </a:r>
          </a:p>
          <a:p>
            <a:pPr lvl="1">
              <a:defRPr sz="2000"/>
            </a:pPr>
            <a:r>
              <a:t>This is expected since QAOA is running on a Statevector simulator, imposing high computational overhead for simulating quantum circuits classically.</a:t>
            </a:r>
          </a:p>
          <a:p>
            <a:pPr>
              <a:defRPr sz="2400"/>
            </a:pPr>
            <a:r>
              <a:t>Feasibility Mechanism: The newly introduced safe_vm_alloc() formulation and snap_to_feasible() function effectively prevent the numerical precision errors seen in earlier iterations.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  <a:r>
              <a:t>Conclusion:</a:t>
            </a:r>
          </a:p>
          <a:p>
            <a:pPr lvl="1">
              <a:defRPr sz="2000"/>
            </a:pPr>
            <a:r>
              <a:t>The project successfully demonstrates a functional, hybrid quantum-classical pipeline for cloud resource allocation.</a:t>
            </a:r>
          </a:p>
          <a:p>
            <a:pPr lvl="1">
              <a:defRPr sz="2000"/>
            </a:pPr>
            <a:r>
              <a:t>It provides a highly stable benchmark framework for testing Mixed-Integer Quadratic Programs in Qiskit.</a:t>
            </a:r>
          </a:p>
          <a:p>
            <a:pPr>
              <a:defRPr sz="2400"/>
            </a:pPr>
            <a:r>
              <a:t>Future Work:</a:t>
            </a:r>
          </a:p>
          <a:p>
            <a:pPr lvl="1">
              <a:defRPr sz="2000"/>
            </a:pPr>
            <a:r>
              <a:t>Evaluate the model on actual Quantum Hardware (e.g., IBM Quantum systems) to measure true QPU execution time.</a:t>
            </a:r>
          </a:p>
          <a:p>
            <a:pPr lvl="1">
              <a:defRPr sz="2000"/>
            </a:pPr>
            <a:r>
              <a:t>Test larger problem instances to identify the threshold where quantum optimization might provide an advantage.</a:t>
            </a:r>
          </a:p>
          <a:p>
            <a:pPr lvl="1">
              <a:defRPr sz="2000"/>
            </a:pPr>
            <a:r>
              <a:t>Relax the require_all_on constraint to fully explore the combinatorial complexity of the server activation variables.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