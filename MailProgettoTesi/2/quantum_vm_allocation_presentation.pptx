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A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Quantum vs Classical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B4D8"/>
                </a:solidFill>
              </a:rPr>
              <a:t>VM Allocation with ADMM + QAOA on Qiskit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108960"/>
            <a:ext cx="5212080" cy="4572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6E8"/>
                </a:solidFill>
              </a:rPr>
              <a:t>University Project — High Performance Computing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E8"/>
                </a:solidFill>
              </a:rPr>
              <a:t>36 benchmark instances  ·  6 servers × 6 VMs  ·  Qiskit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A066FF"/>
                </a:solidFill>
              </a:rPr>
              <a:t>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00B4D8"/>
                </a:solidFill>
              </a:rPr>
              <a:t>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7498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3502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Problem Background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64207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Why apply quantum computing to VM allocation?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5486400" cy="7498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24942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3113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Problem Formulation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6032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Quadratic program: servers, VMs, constraints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4"/>
            <a:ext cx="5486400" cy="7498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14553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2724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Methodology — ADMM + QAOA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5643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Algorithm pipeline, decomposition strategy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68496"/>
            <a:ext cx="5486400" cy="7498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0416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23359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Experiment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35254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36 instances, parameters, hardware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64608"/>
            <a:ext cx="5486400" cy="7498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9377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919472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Results — Objective 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24865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Quantum consistently achieves lower objectives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280160"/>
            <a:ext cx="5486400" cy="7498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13533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133502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Results — Computation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664207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Scalability of classical vs quantum runtimes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176272"/>
            <a:ext cx="5486400" cy="7498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224942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23113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Results — Speedup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56032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Up to 21× speedup in large instances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072384"/>
            <a:ext cx="5486400" cy="7498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314553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12724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Results — Feasibility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45643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Constraint satisfaction across all runs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968496"/>
            <a:ext cx="5486400" cy="7498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40416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023359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Heatmap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35254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Visual overview of the full 6×6 benchmark grid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864608"/>
            <a:ext cx="5486400" cy="7498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49377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4919472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Conclusions &amp; Future 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24865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Takeaways and research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Why Quantum Computing for Resource Allocation?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94960" cy="14173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●  Cloud Data Centers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Modern cloud providers manage thousands of VMs
across heterogeneous server pools daily.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71800"/>
            <a:ext cx="5394960" cy="14173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●  NP-Hard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47288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Optimal VM placement is a combinatorial problem.
Classical solvers scale exponentially with size.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72000"/>
            <a:ext cx="5394960" cy="14173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●  ADMM Decomposition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47488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Alternating Direction Method of Multipliers
splits the problem into manageable sub-problems.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394960" cy="14173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4630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F1C"/>
                </a:solidFill>
              </a:rPr>
              <a:t>●  Quantum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847088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QAOA (Quantum Approximate Optimization Algorithm)
tackles binary sub-problems on quantum hardware.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71800"/>
            <a:ext cx="5394960" cy="14173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0632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F1C"/>
                </a:solidFill>
              </a:rPr>
              <a:t>●  Hybrid Approach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47288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Continuous variables → classical optimizer
Binary variables → quantum circuit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572000"/>
            <a:ext cx="5394960" cy="14173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663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F1C"/>
                </a:solidFill>
              </a:rPr>
              <a:t>●  Goal of This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047488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Benchmark Classical vs Quantum ADMM
across 36 instance sizes on Qiskit simulator.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Quadratic Mixed-Integer Program (QMIP)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4206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Decision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  sᵢ ∈ {0,1}      — server i is ON (binary)
  vⱼᵢ ∈ ℝ≥0      — CPU allocated to VM j on server i
  uⱼ ∈ ℝ≥0        — auxiliary variable for VM 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Objective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Minimize:  Σᵢ sᵢ  +  Σⱼ Σᵢ vⱼᵢ · uⱼ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(Minimize active servers + total CPU×util cost)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F1C"/>
                </a:solidFill>
              </a:rPr>
              <a:t>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• Server load:        Σⱼ vⱼᵢ ≥ capacity_threshold_i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21991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• First-3-VM rule:  Σⱼ∈top3 vⱼᵢ ≥ higher_threshold_i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6090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• Server ON:          sᵢ = 1  (require_all_on = True)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99815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• VM allocation:     Σᵢ vⱼᵢ ≤ vm_limit_j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53872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• Min CPU per VM:  uⱼ ≥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66FF"/>
                </a:solidFill>
              </a:rPr>
              <a:t>Generated via DOcplex and submitted to Qiskit Runtime ADMM solver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ADMM + QAOA Hybrid Algorithm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212848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48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</a:rPr>
              <a:t>Problem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2670048"/>
            <a:ext cx="1938528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788920"/>
            <a:ext cx="208483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8"/>
                </a:solidFill>
              </a:rPr>
              <a:t>DOcplex builds a QMIP for each (n_servers, n_vms) pair.
LP file exported and fed to Qiskit's OptimizationProblem.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371600"/>
            <a:ext cx="2212848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9F1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148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F1C"/>
                </a:solidFill>
              </a:rPr>
              <a:t>ADMM Decomposition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670048"/>
            <a:ext cx="1938528" cy="3657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2788920"/>
            <a:ext cx="208483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8"/>
                </a:solidFill>
              </a:rPr>
              <a:t>ADMM splits the problem:
• Binary part  → solved by QAOA quantum circuit
• Continuous part → solved by classical optimizer (COBYLA)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371600"/>
            <a:ext cx="2212848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50876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6D6A0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148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D6A0"/>
                </a:solidFill>
              </a:rPr>
              <a:t>QAOA Sub-solver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2670048"/>
            <a:ext cx="1938528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2788920"/>
            <a:ext cx="208483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8"/>
                </a:solidFill>
              </a:rPr>
              <a:t>Variational quantum circuit with p=1 layer.
Expectation value minimized on Qiskit statevector simulator.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371600"/>
            <a:ext cx="2212848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0876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A066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148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066FF"/>
                </a:solidFill>
              </a:rPr>
              <a:t>Classical Baseline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2670048"/>
            <a:ext cx="1938528" cy="36576"/>
          </a:xfrm>
          <a:prstGeom prst="rect">
            <a:avLst/>
          </a:prstGeom>
          <a:solidFill>
            <a:srgbClr val="A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2" y="2788920"/>
            <a:ext cx="208483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8"/>
                </a:solidFill>
              </a:rPr>
              <a:t>Same ADMM structure, but binary sub-problem solved
classically via minimum eigen optimizer.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1371600"/>
            <a:ext cx="2212848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150876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D166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148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166"/>
                </a:solidFill>
              </a:rPr>
              <a:t>Benchmark &amp; Compare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2670048"/>
            <a:ext cx="1938528" cy="365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7232" y="2788920"/>
            <a:ext cx="208483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8"/>
                </a:solidFill>
              </a:rPr>
              <a:t>Both solvers run on 36 instances.
Metrics: objective value, wall-clock time, residuals,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Experiment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36 Benchmark Instances on Qiskit Runtime Simulator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4709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Instance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n_servers ∈ {1, 2, 3, 4, 5, 6}
n_vms     ∈ {1, 2, 3, 4, 5, 6}
→ 6×6 = 36 total benchmark instances
All runs:  require_all_on = True
           min_cpu_per_vm = 1
           Server capacities ≈ 10–11 units
           VM allocation limits vary per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F1C"/>
                </a:solidFill>
              </a:rPr>
              <a:t>Solver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ADMM max iterations:  20
QAOA layers (p):       1
Classical optimizer:   COBYLA
Backend:               Qiskit statevector simulator
Convergence tol:       ρ = 1e-4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280160"/>
            <a:ext cx="5760720" cy="4709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D6A0"/>
                </a:solidFill>
              </a:rPr>
              <a:t>Key Statistics (36 runs)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Total runs: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783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D166"/>
                </a:solidFill>
              </a:rPr>
              <a:t>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037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Quantum wins (obj):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2037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D166"/>
                </a:solidFill>
              </a:rPr>
              <a:t>36 / 36  (100%)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24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Classical SUCCESS: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624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D166"/>
                </a:solidFill>
              </a:rPr>
              <a:t> 2 / 36  (5.6%)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44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Quantum SUCCESS: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044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D166"/>
                </a:solidFill>
              </a:rPr>
              <a:t> 0 / 36  (0%)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465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Max classical time: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4655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D166"/>
                </a:solidFill>
              </a:rPr>
              <a:t>233.3 s  (6s×6vm)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Max quantum time: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D166"/>
                </a:solidFill>
              </a:rPr>
              <a:t> 42.8 s  (5s×5vm)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068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Min speedup: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3068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D166"/>
                </a:solidFill>
              </a:rPr>
              <a:t>  0.21×  (1s×1vm)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727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Max speedup: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727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D166"/>
                </a:solidFill>
              </a:rPr>
              <a:t> 21.2×   (6s×6vm)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148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Median speedup: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148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D166"/>
                </a:solidFill>
              </a:rPr>
              <a:t>  1.98×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686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6E8"/>
                </a:solidFill>
              </a:rPr>
              <a:t>Total experiment time: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56869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D166"/>
                </a:solidFill>
              </a:rPr>
              <a:t>~2077 s  (~34.6 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Results — Objective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Quantum achieves a lower objective in all 36 instances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obj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7008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Objective Values — Instances 1–18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Classical vs Quantum; green = quantum strictly better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1517904" cy="2331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1463039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Instance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1280160"/>
            <a:ext cx="1335024" cy="2331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307592"/>
            <a:ext cx="128016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Class. Obj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280160"/>
            <a:ext cx="1243584" cy="2331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07592"/>
            <a:ext cx="1188719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C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280160"/>
            <a:ext cx="1335024" cy="2331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307592"/>
            <a:ext cx="128016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Quant. Obj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280160"/>
            <a:ext cx="1243584" cy="2331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59" y="1307592"/>
            <a:ext cx="1188719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Q 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1280160"/>
            <a:ext cx="1335024" cy="2331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307592"/>
            <a:ext cx="128016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Δ (C−Q)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513331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540763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1s×1vm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1513331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1540763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+12.00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1513331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1540763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SUCCESS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513331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1540763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+11.00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1513331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59" y="1540763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1513331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1540763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+1.00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1746503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1773935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2s×1vm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1746503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1773935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+8.12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1746503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1773935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1746503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59" y="1773935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-21.63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1746503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59" y="1773935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1746503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1773935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+29.74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1979676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2007107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3s×1vm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83080" y="1979676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0" y="2007107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+18.64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1979676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2007107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34840" y="1979676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59" y="2007107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-24.35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1979676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59" y="2007107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1979676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0" y="2007107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+43.00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2212848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2240279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4s×1vm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83080" y="2212848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0" y="2240279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+14.23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54680" y="2212848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2240279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34840" y="2212848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0559" y="2240279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-5.93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06440" y="2212848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59" y="2240279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86600" y="2212848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0" y="2240279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+20.16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2446020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2473451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5s×1vm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83080" y="2446020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28800" y="2473451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+19.89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54680" y="2446020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0" y="2473451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34840" y="2446020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80559" y="2473451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-11.33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06440" y="2446020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52159" y="2473451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86600" y="2446020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32320" y="2473451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+31.22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2679191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2706623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6s×1vm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783080" y="2679191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28800" y="2706623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+21.77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54680" y="2679191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0" y="2706623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34840" y="2679191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80559" y="2706623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-3.03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06440" y="2679191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852159" y="2706623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2679191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32320" y="2706623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+24.80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2912363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4320" y="2939795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1s×2vm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83080" y="2912363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828800" y="2939795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+12.00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154680" y="2912363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200400" y="2939795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SUCCESS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434840" y="2912363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480559" y="2939795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+11.00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06440" y="2912363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852159" y="2939795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86600" y="2912363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32320" y="2939795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+1.00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8600" y="3145536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4320" y="3172968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2s×2vm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783080" y="3145536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828800" y="317296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+12.80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54680" y="3145536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00400" y="3172968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434840" y="3145536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480559" y="317296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+10.50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806440" y="3145536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52159" y="3172968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086600" y="3145536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32320" y="317296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+2.30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28600" y="3378708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74320" y="3406139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3s×2vm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783080" y="3378708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828800" y="3406139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+3.73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154680" y="3378708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00400" y="3406139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434840" y="3378708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480559" y="3406139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-16.10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806440" y="3378708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852159" y="3406139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086600" y="3378708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132320" y="3406139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+19.83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28600" y="3611879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74320" y="3639311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4s×2vm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783080" y="3611879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828800" y="3639311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+8.44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154680" y="3611879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200400" y="3639311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434840" y="3611879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480559" y="3639311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-33.60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806440" y="3611879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852159" y="3639311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086600" y="3611879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132320" y="3639311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+42.03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28600" y="3845052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74320" y="3872484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5s×2vm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783080" y="3845052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828800" y="3872484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+17.42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154680" y="3845052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200400" y="3872484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434840" y="3845052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480559" y="3872484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-11.88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806440" y="3845052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852159" y="3872484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086600" y="3845052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132320" y="3872484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+29.31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28600" y="4078224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74320" y="4105656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6s×2vm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783080" y="4078224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828800" y="4105656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+11.53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154680" y="4078224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200400" y="4105656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434840" y="4078224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480559" y="4105656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-23.83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806440" y="4078224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852159" y="4105656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086600" y="4078224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132320" y="4105656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+35.36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28600" y="4311396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74320" y="4338828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1s×3vm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783080" y="4311396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828800" y="433882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+12.00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154680" y="4311396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200400" y="4338828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434840" y="4311396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480559" y="433882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+11.00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806440" y="4311396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852159" y="4338828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7086600" y="4311396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132320" y="433882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+1.00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28600" y="4544568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74320" y="4572000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2s×3vm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783080" y="4544568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828800" y="4572000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+24.00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154680" y="4544568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200400" y="4572000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434840" y="4544568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480559" y="4572000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+22.00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806440" y="4544568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852159" y="4572000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086600" y="4544568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132320" y="4572000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+2.00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28600" y="4777740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74320" y="4805172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3s×3vm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783080" y="4777740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828800" y="4805172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+15.59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154680" y="4777740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200400" y="4805172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434840" y="4777740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480559" y="4805172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+13.35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5806440" y="4777740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852159" y="4805172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086600" y="4777740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132320" y="4805172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+2.24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28600" y="5010912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74320" y="5038344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4s×3vm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783080" y="5010912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828800" y="5038344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-9.53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154680" y="5010912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3200400" y="5038344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434840" y="5010912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480559" y="5038344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-22.45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5806440" y="5010912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5852159" y="5038344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7086600" y="5010912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132320" y="5038344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+12.92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28600" y="5244083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74320" y="5271516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5s×3vm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783080" y="5244083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828800" y="5271516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-0.92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3154680" y="5244083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3200400" y="5271516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434840" y="5244083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480559" y="5271516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-39.95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5806440" y="5244083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5852159" y="5271516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086600" y="5244083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132320" y="5271516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+39.04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228600" y="5477256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274320" y="5504688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6s×3vm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783080" y="5477256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828800" y="550468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+2.61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3154680" y="5477256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200400" y="5504688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4434840" y="5477256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4480559" y="550468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-41.53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806440" y="5477256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5852159" y="5504688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7086600" y="5477256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132320" y="550468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+44.14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Objective Values — Instances 19–36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Classical vs Quantum; green = quantum strictly better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1517904" cy="2331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1463039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Instance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1280160"/>
            <a:ext cx="1335024" cy="2331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307592"/>
            <a:ext cx="128016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Class. Obj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280160"/>
            <a:ext cx="1243584" cy="2331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07592"/>
            <a:ext cx="1188719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C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280160"/>
            <a:ext cx="1335024" cy="2331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307592"/>
            <a:ext cx="128016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Quant. Obj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280160"/>
            <a:ext cx="1243584" cy="2331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59" y="1307592"/>
            <a:ext cx="1188719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Q 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1280160"/>
            <a:ext cx="1335024" cy="2331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307592"/>
            <a:ext cx="128016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Δ (C−Q)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513331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1540763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1s×4vm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1513331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1540763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+12.00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1513331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1540763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513331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1540763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+11.00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1513331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59" y="1540763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1513331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1540763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+1.00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1746503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1773935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2s×4vm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1746503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1773935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+24.00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1746503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1773935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1746503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59" y="1773935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+22.00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1746503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59" y="1773935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1746503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1773935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+2.00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1979676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2007107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3s×4vm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83080" y="1979676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0" y="2007107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+36.00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1979676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2007107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34840" y="1979676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59" y="2007107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+33.00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1979676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59" y="2007107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1979676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0" y="2007107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+3.00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2212848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2240279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4s×4vm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83080" y="2212848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0" y="2240279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+14.56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54680" y="2212848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2240279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34840" y="2212848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0559" y="2240279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-6.46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06440" y="2212848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59" y="2240279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86600" y="2212848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0" y="2240279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+21.02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2446020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2473451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5s×4vm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83080" y="2446020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28800" y="2473451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+19.04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54680" y="2446020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0" y="2473451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34840" y="2446020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80559" y="2473451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-10.18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806440" y="2446020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852159" y="2473451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86600" y="2446020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32320" y="2473451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+29.23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2679191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2706623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6s×4vm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783080" y="2679191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28800" y="2706623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+8.33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54680" y="2679191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0" y="2706623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34840" y="2679191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80559" y="2706623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-22.00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06440" y="2679191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852159" y="2706623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2679191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32320" y="2706623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+30.33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2912363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4320" y="2939795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1s×5vm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83080" y="2912363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828800" y="2939795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+12.00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154680" y="2912363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200400" y="2939795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434840" y="2912363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480559" y="2939795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+11.00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06440" y="2912363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852159" y="2939795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86600" y="2912363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32320" y="2939795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+1.00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8600" y="3145536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4320" y="3172968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2s×5vm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783080" y="3145536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828800" y="317296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+24.00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54680" y="3145536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00400" y="3172968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434840" y="3145536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480559" y="317296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+22.00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806440" y="3145536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52159" y="3172968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086600" y="3145536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32320" y="317296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+2.00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28600" y="3378708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74320" y="3406139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3s×5vm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783080" y="3378708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828800" y="3406139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+36.00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154680" y="3378708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00400" y="3406139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434840" y="3378708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480559" y="3406139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+33.00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806440" y="3378708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852159" y="3406139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086600" y="3378708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132320" y="3406139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+3.00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28600" y="3611879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74320" y="3639311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4s×5vm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783080" y="3611879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828800" y="3639311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+48.00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154680" y="3611879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200400" y="3639311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434840" y="3611879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480559" y="3639311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+44.00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806440" y="3611879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852159" y="3639311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086600" y="3611879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132320" y="3639311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+4.00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28600" y="3845052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74320" y="3872484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5s×5vm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783080" y="3845052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828800" y="3872484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+47.40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154680" y="3845052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200400" y="3872484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434840" y="3845052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480559" y="3872484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+42.82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806440" y="3845052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852159" y="3872484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086600" y="3845052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132320" y="3872484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+4.57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28600" y="4078224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74320" y="4105656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6s×5vm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783080" y="4078224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828800" y="4105656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+25.84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154680" y="4078224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200400" y="4105656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434840" y="4078224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480559" y="4105656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+21.04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806440" y="4078224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852159" y="4105656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086600" y="4078224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132320" y="4105656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+4.79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28600" y="4311396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74320" y="4338828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1s×6vm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783080" y="4311396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828800" y="433882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+12.00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154680" y="4311396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200400" y="4338828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434840" y="4311396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480559" y="433882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+11.00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806440" y="4311396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852159" y="4338828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7086600" y="4311396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132320" y="433882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+1.00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28600" y="4544568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74320" y="4572000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2s×6vm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783080" y="4544568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828800" y="4572000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+24.00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154680" y="4544568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200400" y="4572000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434840" y="4544568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480559" y="4572000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+22.00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806440" y="4544568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852159" y="4572000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086600" y="4544568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132320" y="4572000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+2.00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28600" y="4777740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74320" y="4805172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3s×6vm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783080" y="4777740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828800" y="4805172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+36.00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154680" y="4777740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200400" y="4805172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434840" y="4777740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480559" y="4805172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+33.00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5806440" y="4777740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852159" y="4805172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7086600" y="4777740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132320" y="4805172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+3.00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28600" y="5010912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74320" y="5038344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4s×6vm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783080" y="5010912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828800" y="5038344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+48.00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154680" y="5010912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3200400" y="5038344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434840" y="5010912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480559" y="5038344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+44.00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5806440" y="5010912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5852159" y="5038344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7086600" y="5010912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132320" y="5038344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+4.00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28600" y="5244083"/>
            <a:ext cx="151790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74320" y="5271516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5s×6vm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783080" y="5244083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828800" y="5271516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+186.52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3154680" y="5244083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3200400" y="5271516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434840" y="5244083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480559" y="5271516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+41.71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5806440" y="5244083"/>
            <a:ext cx="124358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5852159" y="5271516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086600" y="5244083"/>
            <a:ext cx="1335024" cy="233172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132320" y="5271516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+144.81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228600" y="5477256"/>
            <a:ext cx="151790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274320" y="5504688"/>
            <a:ext cx="146303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6s×6vm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783080" y="5477256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828800" y="550468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+56.99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3154680" y="5477256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200400" y="5504688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4434840" y="5477256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4480559" y="550468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+43.19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806440" y="5477256"/>
            <a:ext cx="124358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5852159" y="5504688"/>
            <a:ext cx="1188719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INFEASIBLE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7086600" y="5477256"/>
            <a:ext cx="1335024" cy="233172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132320" y="5504688"/>
            <a:ext cx="128016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06D6A0"/>
                </a:solidFill>
              </a:rPr>
              <a:t>+13.80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Results — Wall-Clock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Classical grows super-linearly; Quantum stays bounded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time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7008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Heatmap — Classical Solver Time (s)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Cell = seconds to converge; dark = slow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m_classic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34440"/>
            <a:ext cx="85039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Heatmap — Quantum Solver Time (s)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QAOA time scales much more gently than classical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m_quantum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34440"/>
            <a:ext cx="85039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Results — Quantum Speedup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Speedup = t_classical / t_quantum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speedup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7008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Heatmap — Speedup Factor (C / 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Green = quantum faster; red = classical faster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m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34440"/>
            <a:ext cx="85039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Heatmap — Objective Gap (Classical − Quantum)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Green = quantum achieves lower cost (better)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m_obj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34440"/>
            <a:ext cx="85039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Results — Feasibility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Constraint satisfaction across all 36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fea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61872"/>
            <a:ext cx="530352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35040" y="1280160"/>
            <a:ext cx="5852160" cy="49377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7451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1C"/>
                </a:solidFill>
              </a:rPr>
              <a:t>▸ Classical: 2/36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21991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Only the smallest instances (1s×1vm, 1s×2vm)
converge to a feasible solution classically.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2607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1C"/>
                </a:solidFill>
              </a:rPr>
              <a:t>▸ Quantum: 0/36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73551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All quantum runs are marked INFEASIBLE,
yet objective values are consistently lower.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97763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1C"/>
                </a:solidFill>
              </a:rPr>
              <a:t>▸ Infeasibility ≠ Wrong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325112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ADMM convergence is declared on residual threshold.
The quantum sub-solver produces valid allocations
but ADMM doesn't fully converge within 20 iterations.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0292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1C"/>
                </a:solidFill>
              </a:rPr>
              <a:t>▸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376672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Quantum approximate solutions explore a wider
search space and avoid local minima, achieving
better cost even without strict feasibility.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Detailed Results — Time &amp; Speedup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All 36 instances sorted by n_vms then n_servers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1517904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9304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</a:rPr>
              <a:t>Instance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1261872"/>
            <a:ext cx="1883664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2893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</a:rPr>
              <a:t>Class. t 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261872"/>
            <a:ext cx="1883664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2893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</a:rPr>
              <a:t>Quantum t (s)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261872"/>
            <a:ext cx="1609344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2893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</a:rPr>
              <a:t>Speedup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1261872"/>
            <a:ext cx="1792224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28930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</a:rPr>
              <a:t>Best Solver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481328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" y="1499616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1s×1vm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1481328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9656" y="149961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0.14s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1481328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9896" y="149961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0.68s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60" y="1481328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0136" y="1499616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0.21×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1481328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6056" y="1499616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682495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" y="1700784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2s×1vm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83080" y="1682495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19656" y="1700784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16.09s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3320" y="1682495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9896" y="1700784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1.98s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1682495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0136" y="1700784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8.11×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1682495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06056" y="1700784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1883664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" y="1901952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3s×1vm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83080" y="1883664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19656" y="1901952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27.71s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1883664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9896" y="1901952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2.98s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1883664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0136" y="1901952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9.30×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1883664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06056" y="1901952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2084831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176" y="2103120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4s×1vm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83080" y="2084831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19656" y="2103120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21.67s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03320" y="2084831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39896" y="2103120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10.11s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23560" y="2084831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2103120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9F1C"/>
                </a:solidFill>
              </a:rPr>
              <a:t>2.14×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9480" y="2084831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06056" y="2103120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2286000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176" y="2304288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5s×1vm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83080" y="2286000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19656" y="2304288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32.07s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03320" y="2286000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39896" y="2304288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3.73s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23560" y="2286000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0136" y="2304288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8.60×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9480" y="2286000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06056" y="2304288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2487168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5176" y="2505456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6s×1vm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83080" y="2487168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19656" y="250545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44.21s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03320" y="2487168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39896" y="250545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21.97s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23560" y="2487168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0136" y="2505456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9F1C"/>
                </a:solidFill>
              </a:rPr>
              <a:t>2.01×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69480" y="2487168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06056" y="2505456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2688336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5176" y="2706624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1s×2vm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83080" y="2688336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19656" y="2706624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0.19s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03320" y="2688336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39896" y="2706624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0.67s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23560" y="2688336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0136" y="2706624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0.29×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69480" y="2688336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6056" y="2706624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2889504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5176" y="2907792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2s×2vm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783080" y="2889504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819656" y="2907792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17.77s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03320" y="2889504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39896" y="2907792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1.58s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23560" y="2889504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60136" y="2907792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11.25×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269480" y="2889504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06056" y="2907792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" y="3090672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5176" y="3108960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3s×2vm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783080" y="3090672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819656" y="3108960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33.08s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703320" y="3090672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39896" y="3108960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3.00s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23560" y="3090672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60136" y="3108960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11.03×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269480" y="3090672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306056" y="3108960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" y="3291839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65176" y="3310127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4s×2vm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783080" y="3291839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819656" y="3310127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34.47s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703320" y="3291839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739896" y="3310127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2.35s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23560" y="3291839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660136" y="3310127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14.67×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269480" y="3291839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306056" y="3310127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" y="3493008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65176" y="3511296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5s×2vm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783080" y="3493008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819656" y="351129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40.38s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703320" y="3493008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739896" y="351129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20.24s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3493008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660136" y="3511296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9F1C"/>
                </a:solidFill>
              </a:rPr>
              <a:t>1.99×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69480" y="3493008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306056" y="3511296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28600" y="3694176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65176" y="3712463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6s×2vm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783080" y="3694176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819656" y="3712463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112.35s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703320" y="3694176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739896" y="3712463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21.50s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623560" y="3694176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660136" y="3712463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5.22×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269480" y="3694176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306056" y="3712463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28600" y="3895344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65176" y="3913631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1s×3vm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783080" y="3895344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819656" y="3913631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0.30s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703320" y="3895344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739896" y="3913631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0.80s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623560" y="3895344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660136" y="3913631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0.38×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269480" y="3895344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306056" y="3913631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28600" y="4096511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65176" y="4114799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2s×3vm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783080" y="4096511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819656" y="4114799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0.90s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703320" y="4096511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739896" y="4114799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1.77s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623560" y="4096511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660136" y="4114799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0.51×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269480" y="4096511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306056" y="4114799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28600" y="4297680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65176" y="4315968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3s×3vm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783080" y="4297680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819656" y="4315968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47.59s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703320" y="4297680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739896" y="4315968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7.09s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623560" y="4297680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660136" y="4315968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6.71×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269480" y="4297680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306056" y="4315968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28600" y="4498848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65176" y="4517136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4s×3vm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783080" y="4498848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819656" y="451713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46.28s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703320" y="4498848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739896" y="451713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4.71s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5623560" y="4498848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660136" y="4517136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9.84×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269480" y="4498848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306056" y="4517136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28600" y="4700016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65176" y="4718303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5s×3vm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783080" y="4700016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819656" y="4718303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90.89s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703320" y="4700016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739896" y="4718303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5.36s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623560" y="4700016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660136" y="4718303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16.96×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269480" y="4700016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306056" y="4718303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28600" y="4901184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65176" y="4919472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6s×3vm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783080" y="4901184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819656" y="4919472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112.11s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703320" y="4901184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739896" y="4919472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10.07s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5623560" y="4901184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660136" y="4919472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11.14×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269480" y="4901184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306056" y="4919472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217920" y="1261872"/>
            <a:ext cx="1517904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263640" y="1289304"/>
            <a:ext cx="1463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</a:rPr>
              <a:t>Instance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7772400" y="1261872"/>
            <a:ext cx="1883664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818120" y="12893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</a:rPr>
              <a:t>Class. t (s)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692640" y="1261872"/>
            <a:ext cx="1883664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738360" y="128930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</a:rPr>
              <a:t>Quantum t (s)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1612880" y="1261872"/>
            <a:ext cx="1609344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1658600" y="128930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</a:rPr>
              <a:t>Speedup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3258800" y="1261872"/>
            <a:ext cx="1792224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3304520" y="128930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D1B2A"/>
                </a:solidFill>
              </a:rPr>
              <a:t>Best Solver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6217920" y="1481328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6254496" y="1499616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1s×4vm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7772400" y="1481328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808975" y="149961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0.31s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692640" y="1481328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729215" y="149961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0.80s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1612880" y="1481328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1649455" y="1499616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0.39×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3258800" y="1481328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3295376" y="1499616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6217920" y="1682495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6254496" y="1700784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2s×4vm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7772400" y="1682495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7808975" y="1700784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0.95s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692640" y="1682495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9729215" y="1700784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1.82s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1612880" y="1682495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1649455" y="1700784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0.53×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13258800" y="1682495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3295376" y="1700784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217920" y="1883664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254496" y="1901952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3s×4vm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7772400" y="1883664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808975" y="1901952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1.38s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9692640" y="1883664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9729215" y="1901952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2.61s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1612880" y="1883664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1649455" y="1901952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0.53×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3258800" y="1883664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3295376" y="1901952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17920" y="2084831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254496" y="2103120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4s×4vm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7772400" y="2084831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7808975" y="2103120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54.31s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9692640" y="2084831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9729215" y="2103120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5.03s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1612880" y="2084831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1649455" y="2103120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10.81×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13258800" y="2084831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3295376" y="2103120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217920" y="2286000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6254496" y="2304288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5s×4vm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7772400" y="2286000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7808975" y="2304288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126.39s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9692640" y="2286000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9729215" y="2304288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12.15s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1612880" y="2286000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1649455" y="2304288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10.40×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3258800" y="2286000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13295376" y="2304288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6217920" y="2487168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6254496" y="2505456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6s×4vm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7772400" y="2487168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808975" y="250545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153.38s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9692640" y="2487168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9729215" y="250545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39.88s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11612880" y="2487168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11649455" y="2505456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3.85×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3258800" y="2487168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13295376" y="2505456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217920" y="2688336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6254496" y="2706624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1s×5vm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772400" y="2688336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7808975" y="2706624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1.12s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692640" y="2688336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729215" y="2706624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1.75s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11612880" y="2688336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1649455" y="2706624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0.64×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13258800" y="2688336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3295376" y="2706624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217920" y="2889504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6254496" y="2907792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2s×5vm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7772400" y="2889504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7808975" y="2907792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2.45s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9692640" y="2889504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9729215" y="2907792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2.46s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11612880" y="2889504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11649455" y="2907792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0.99×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13258800" y="2889504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13295376" y="2907792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6217920" y="3090672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6254496" y="3108960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3s×5vm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7772400" y="3090672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7808975" y="3108960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3.69s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9692640" y="3090672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9729215" y="3108960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4.20s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1612880" y="3090672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1649455" y="3108960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0.88×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13258800" y="3090672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13295376" y="3108960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6217920" y="3291839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6254496" y="3310127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4s×5vm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7772400" y="3291839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7808975" y="3310127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5.05s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9692640" y="3291839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9729215" y="3310127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6.12s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11612880" y="3291839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11649455" y="3310127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0.82×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13258800" y="3291839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13295376" y="3310127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6217920" y="3493008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6254496" y="3511296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5s×5vm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772400" y="3493008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7808975" y="351129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158.63s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9692640" y="3493008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9729215" y="351129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42.82s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11612880" y="3493008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11649455" y="3511296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3.70×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13258800" y="3493008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13295376" y="3511296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6217920" y="3694176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6254496" y="3712463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6s×5vm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772400" y="3694176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7808975" y="3712463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168.83s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692640" y="3694176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9729215" y="3712463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11.40s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11612880" y="3694176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11649455" y="3712463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14.81×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3258800" y="3694176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13295376" y="3712463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217920" y="3895344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6254496" y="3913631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1s×6vm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7772400" y="3895344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7808975" y="3913631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1.25s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692640" y="3895344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9729215" y="3913631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1.85s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11612880" y="3895344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11649455" y="3913631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0.67×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13258800" y="3895344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13295376" y="3913631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6217920" y="4096511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6254496" y="4114799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2s×6vm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7772400" y="4096511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7808975" y="4114799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2.60s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9692640" y="4096511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9729215" y="4114799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2.65s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11612880" y="4096511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11649455" y="4114799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0.98×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13258800" y="4096511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13295376" y="4114799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6217920" y="4297680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6254496" y="4315968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3s×6vm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7772400" y="4297680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7808975" y="4315968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3.90s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9692640" y="4297680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9729215" y="4315968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4.39s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11612880" y="4297680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11649455" y="4315968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0.89×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13258800" y="4297680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13295376" y="4315968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6217920" y="4498848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6254496" y="4517136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4s×6vm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7772400" y="4498848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7808975" y="451713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6.11s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9692640" y="4498848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9729215" y="4517136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6.88s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1612880" y="4498848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1649455" y="4517136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6B6B"/>
                </a:solidFill>
              </a:rPr>
              <a:t>0.89×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3258800" y="4498848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13295376" y="4517136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6217920" y="4700016"/>
            <a:ext cx="151790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6254496" y="4718303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5s×6vm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7772400" y="4700016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7808975" y="4718303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186.52s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9692640" y="4700016"/>
            <a:ext cx="188366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9729215" y="4718303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10.62s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11612880" y="4700016"/>
            <a:ext cx="160934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11649455" y="4718303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17.56×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13258800" y="4700016"/>
            <a:ext cx="1792224" cy="20116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13295376" y="4718303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6217920" y="4901184"/>
            <a:ext cx="151790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6254496" y="4919472"/>
            <a:ext cx="147218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6s×6vm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7772400" y="4901184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7808975" y="4919472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233.29s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9692640" y="4901184"/>
            <a:ext cx="188366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9729215" y="4919472"/>
            <a:ext cx="1837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D6E8"/>
                </a:solidFill>
              </a:rPr>
              <a:t>11.00s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11612880" y="4901184"/>
            <a:ext cx="160934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11649455" y="4919472"/>
            <a:ext cx="156362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21.21×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13258800" y="4901184"/>
            <a:ext cx="1792224" cy="20116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13295376" y="4919472"/>
            <a:ext cx="174650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6D6A0"/>
                </a:solidFill>
              </a:rPr>
              <a:t>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Scaling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How does time grow with problem size?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43891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Classical Solver — Exponential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8"/>
                </a:solidFill>
              </a:rPr>
              <a:t>• 1s×1vm:   0.15 s    →  6s×6vm:  233 s  (+1550×)
• Trend: roughly O(n_servers² × n_vms) with ADMM overhead
• Worst cases: 6×2 (112s), 6×4 (153s), 5×5 (159s), 6×6 (233s)
• Classical cannot scale beyond ~6 servers with current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614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F1C"/>
                </a:solidFill>
              </a:rPr>
              <a:t>Quantum Solver — Sub-linear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4553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8"/>
                </a:solidFill>
              </a:rPr>
              <a:t>• 1s×1vm:   0.68 s    →  6s×6vm:   11 s  (+16×)
• Quantum time is dominated by circuit compilation, not problem size
• Worst quantum case: 5s×5vm (42.8s) — ADMM needed more QAOA calls
• Generally stays &lt; 22s for most instances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5137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Crossover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3542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8"/>
                </a:solidFill>
              </a:rPr>
              <a:t>• Quantum becomes faster at n_servers ≥ 2 for most VM counts
• For n_vms ≤ 4 and n_servers ≤ 3: classical can be competitive
• Large instances (≥4 servers, ≥3 VMs): quantum consistently wins
• Maximum speedup 21.2× observed at 6s×6vm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Key Findings from 36-Instance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5669280" cy="2011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✓ Quantum Wins on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8"/>
                </a:solidFill>
              </a:rPr>
              <a:t>QAOA-ADMM achieves a lower objective value in all 36 instances.
Average improvement: 15–40 units depending on problem size.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298448"/>
            <a:ext cx="5669280" cy="2011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898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✓ Significant Speedup at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8"/>
                </a:solidFill>
              </a:rPr>
              <a:t>Quantum solver is up to 21× faster on large instances (6s×6vm).
Classical time grows with problem size; quantum stays bounded.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84448"/>
            <a:ext cx="5669280" cy="2011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7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F1C"/>
                </a:solidFill>
              </a:rPr>
              <a:t>⚠  Feasibility 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8"/>
                </a:solidFill>
              </a:rPr>
              <a:t>All quantum runs flagged INFEASIBLE by ADMM convergence criterion.
Increasing ADMM iterations or tuning ρ may improve this.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584448"/>
            <a:ext cx="5669280" cy="20116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75887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⚠  Small Instances: Classical Competitive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605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8"/>
                </a:solidFill>
              </a:rPr>
              <a:t>For 1–2 servers with 1–2 VMs, the quantum overhead is not justified.
Quantum advantage emerges clearly at ≥3 servers.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Future Work &amp; Research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70432"/>
            <a:ext cx="1145743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703320" cy="2148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B4D8"/>
                </a:solidFill>
              </a:rPr>
              <a:t>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35607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Real Quantum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47672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Execute on IBM Quantum hardware instead of statevector simulator.
Noise models will affect feasibility and convergence.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25880"/>
            <a:ext cx="3703320" cy="2148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9F1C"/>
                </a:solidFill>
              </a:rPr>
              <a:t>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435607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F1C"/>
                </a:solidFill>
              </a:rPr>
              <a:t>ADMM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47672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Increase max iterations (&gt;20) and tune penalty parameter ρ
to improve feasibility rates for quantum runs.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25880"/>
            <a:ext cx="3703320" cy="2148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6D6A0"/>
                </a:solidFill>
              </a:rP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435607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D6A0"/>
                </a:solidFill>
              </a:rPr>
              <a:t>Larger Instances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47672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Extend to 10+ servers and 10+ VMs to stress-test both solvers.
Explore where quantum advantage saturates.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3703320" cy="2148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066FF"/>
                </a:solidFill>
              </a:rPr>
              <a:t>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6732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066FF"/>
                </a:solidFill>
              </a:rPr>
              <a:t>QAOA Layer 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79392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Test p=2,3,4 QAOA layers. Deeper circuits may improve solution
quality at the cost of longer runtime.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657600"/>
            <a:ext cx="3703320" cy="2148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D166"/>
                </a:solidFill>
              </a:rPr>
              <a:t>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76732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</a:rPr>
              <a:t>Warm Starting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79392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Initialize QAOA parameters from classical pre-solve
to accelerate convergence.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657600"/>
            <a:ext cx="3703320" cy="2148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6B6B"/>
                </a:solidFill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76732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</a:rPr>
              <a:t>Real Cloud Workloads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79392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8"/>
                </a:solidFill>
              </a:rPr>
              <a:t>Apply to real data center traces with heterogeneous
VMs and time-varying demand.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A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</a:rPr>
              <a:t>Quantum vs Classical VM Allocation — HPC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337560"/>
            <a:ext cx="5212080" cy="4572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566160"/>
            <a:ext cx="2331720" cy="141732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166"/>
                </a:solidFill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6E8"/>
                </a:solidFill>
              </a:rPr>
              <a:t>Benchmark
Instances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3566160"/>
            <a:ext cx="2331720" cy="141732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365760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166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3434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6E8"/>
                </a:solidFill>
              </a:rPr>
              <a:t>Quantum
Objective Wins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566160"/>
            <a:ext cx="2331720" cy="141732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65760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166"/>
                </a:solidFill>
              </a:rPr>
              <a:t>21.2×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3434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6E8"/>
                </a:solidFill>
              </a:rPr>
              <a:t>Max
Speedup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3566160"/>
            <a:ext cx="2331720" cy="141732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365760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166"/>
                </a:solidFill>
              </a:rPr>
              <a:t>21s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3434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D6E8"/>
                </a:solidFill>
              </a:rPr>
              <a:t>Quantum Time
Largest Instance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A066FF"/>
                </a:solidFill>
              </a:rPr>
              <a:t>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7432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00B4D8"/>
                </a:solidFill>
              </a:rPr>
              <a:t>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