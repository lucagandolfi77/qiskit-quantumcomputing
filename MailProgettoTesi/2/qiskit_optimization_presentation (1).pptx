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73152" cy="457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Hybrid Quantum-Classical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B4D8"/>
                </a:solidFill>
              </a:rPr>
              <a:t>for Server &amp; Virtual Machine Allocation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789920" cy="36576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6E8"/>
                </a:solidFill>
              </a:rPr>
              <a:t>ADMM Framework  ·  QAOA (Qiskit 1.x)  ·  Exact QUBO 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University of Parma  ·  HPC2026 Course  ·  Thesis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F1C"/>
                </a:solidFill>
              </a:rPr>
              <a:t>Test Instance: 6 Servers × 6 VMs  |  Fast Mode  |  Qiskit-Optimization 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1.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Resource allocation in cloud infrastructure as a Mixed-Integer Quadratic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Modern cloud data centres must allocate CPU and memory resources across physical servers and virtual machines (VMs) while minimising total operational cost. Fixed server costs (powering a server ON) and dynamic costs (CPU utilisation per VM-server pair) create a mixed-integer quadratic programme (MIQP) that is NP-hard in general.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Decision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sᵢ ∈ {0,1}   — binary: server i is ON (1) or OFF 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776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vⱼᵢ ≥ 0     — continuous: CPU allocated from VM j on server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976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uⱼ ≥ 0       — continuous: total utilisation of VM 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Objective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</a:rPr>
              <a:t>Minimise total cost: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5486400" cy="91440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871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</a:rPr>
              <a:t>min  Σᵢ [ πᵢ · sᵢ  +  δᵢ · Σⱼ uⱼ · vⱼᵢ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πᵢ = fixed cost of server i
δᵢ = dynamic cost coefficient
All set to 1.0 in this experiment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9F1C"/>
                </a:solidFill>
              </a:rPr>
              <a:t>Test instance: 6 servers, 6 VMs, all servers forced ON (require_all_on=True)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2.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Three families of constraints encode capacity, coverage and resource bounds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73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Server Load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cons_server_load_i: Σⱼ vⱼᵢ ≥ capacityᵢ − 1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00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Ensures each server handles at least (capacity − 1) CPU units across all VMs. Servers 0–2 have capacity 11, servers 3–5 have capacity 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54680"/>
            <a:ext cx="5577840" cy="14173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278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First-3 VM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cons_first3vm_server_i: Σⱼ∈{0,1,2} vⱼᵢ ≥ capacityᵢ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044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Stricter constraint for the first 3 servers: the first 3 VMs alone must cover the full server capacity. Models a priority workload policy.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5577840" cy="14173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73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VM Allocation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cons_vm_alloc_j: Σᵢ vⱼᵢ ≤ limitⱼ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500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Each VM has a maximum total CPU it can allocate across all servers. Limits in this run: [12, 8, 9, 10, 11, 10] (randomly sampled from 8–12).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154680"/>
            <a:ext cx="5577840" cy="14173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278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Minimum CPU per 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cons_min_cpu_vm_j: uⱼ ≥ min_cpu_per_vm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0448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Prevents degenerate solutions where a VM is allocated zero utilisation. min_cpu_per_vm = 1 in this experiment.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3620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9F1C"/>
                </a:solidFill>
              </a:rPr>
              <a:t>All servers forced ON via  cons_server_on_i: sᵢ = 1  →  binary variables become trivially fixed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3. ADMM: Alternating Direction Method of Multipliers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Decomposition strategy that splits a hard MIQP into tractable sub-problems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decomposes the original Mixed-Integer Quadratic Programme (MIQP) into two alternating sub-problems solved iteratively until convergence. This makes it possible to plug any QUBO solver — including a quantum one — into the binary sub-problem, while keeping a standard continuous optimiser for the remaining variables.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657600" cy="30175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① Binary Sub-problem  (QUBO)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7355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Solve for the binary variables sᵢ with all
continuous variables fixed.
Output: {sᵢ} ∈ {0,1}ⁿ
Solver: Exact NumPy (classical) or
QAOA (quantum)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3657600" cy="301752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② Continuous Sub-problem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7355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Solve for {vⱼᵢ, uⱼ} with binary variables
fixed using COBYLA.
Output: optimal continuous allocation
given current binary assignment
Solver: COBYLA (classical)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43200"/>
            <a:ext cx="3657600" cy="3017520"/>
          </a:xfrm>
          <a:prstGeom prst="rect">
            <a:avLst/>
          </a:prstGeom>
          <a:solidFill>
            <a:srgbClr val="1B263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③ Dual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7355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Update Lagrange multipliers λ to
enforce coupling between sub-problems.
Convergence checked via primal &amp;
dual residuals  ‖Ax+Bz−c‖ &lt; tol
Loop until tol or maxiter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4023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023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9F1C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4. QAOA: Quantum Approximate Optimization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A variational hybrid algorithm that encodes combinatorial problems on quantum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QAOA maps the QUBO problem onto a parameterised quantum circuit with p layers (reps). Each layer applies a cost unitary UC(γ) encoding the objective and a mixer unitary UB(β). A classical optimiser (COBYLA) updates the angles (γ, β) to minimise the expected cost. The quantum advantage grows with problem size and circuit depth, but simulation cost scales as O(2ⁿ).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1247120" cy="658368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Sampler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StatevectorSampler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7432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Simulates the full quantum statevector classically. Exact simulation: no shot noise, but exponential memory O(2ⁿ) in the number of qubits.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10712"/>
            <a:ext cx="11247120" cy="658368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reps (p)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56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1  (fast) / 3 (full)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45643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Circuit depth. Higher p gives a better approximation ratio but multiplies gate count and simulation time. p=1 used in this fast-mode run.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23944"/>
            <a:ext cx="11247120" cy="658368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6966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Inner optimiser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6966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COBYLA (maxiter=50)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169663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Classical gradient-free optimiser that updates circuit angles. Fewer iterations → faster but potentially suboptimal angles.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37176"/>
            <a:ext cx="11247120" cy="658368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828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ADMM maxiter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828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50  (fast) / 300 (full)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882896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Number of outer ADMM iterations. Each iteration calls the full QAOA circuit. Reduced in fast mode to limit total wall-clock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0408"/>
            <a:ext cx="11247120" cy="658368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596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ADMM tol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596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1e-2  (fast) / 1e-4 (full)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59612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Convergence threshold on ADMM residuals. Looser tolerance means the algorithm stops earlier with a less refined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5. LP Formulation — DOcplex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The problem exported as a standard LP file by Qiskit Optimization 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443484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Minimize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082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obj:  si0+si1+si2+si3+si4+si5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22576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    + [ 2 vj0i0·uj0 + 2 vj0i1·uj0 + ... + 2 vj5i5·uj5 ]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Subject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cons_server_load_i :   Σⱼ vⱼᵢ  ≥  capacityᵢ − 1      (i = 0..5)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958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cons_first3vm_i    :   vj0iX + vj1iX + vj2iX  ≥  capᵢ  (i = 0..2)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cons_server_on_i   :   sᵢ = 1                          (i = 0..5)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7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cons_vm_alloc_j    :   Σᵢ vⱼᵢ  ≤  limitⱼ              (j = 0..5)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cons_min_cpu_vm_j  :   uⱼ ≥ 1                          (j = 0..5)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3659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3834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Bounds    0 ≤ sᵢ ≤ 1  (i = 0..5)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0096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Binaries  si0  si1  si2  si3  si4  si5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44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Note: DOcplex generates a bilinear (quadratic) objective. Qiskit Optimization lifts it to a fully quadratic QUBO before passing it to ADMM. The /2 factor in the LP output reflects the symmetric bilinear form  xᵀQx → upper-triangle representation.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6 Servers × 6 VMs — Fast Mode — Qiskit 1.x / qiskit-optimization 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486400" cy="43891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CLASSICAL 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</a:rPr>
              <a:t>(Exact QUBO + COBYLA)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Objective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56.9882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INFEASIBLE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Wall-clock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233.29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maxiter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tol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1 × 10⁻³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QUBO solver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NumPyMinimumEigensolver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00200"/>
            <a:ext cx="5486400" cy="438912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691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QUANTUM SOLVER (QAOA)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29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</a:rPr>
              <a:t>(QAOA reps=1 + COBYLA)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Objective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43.1858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INFEASIBLE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Wall-clock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11.0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maxiter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tol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1 × 10⁻²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QUBO solver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QAOA (StatevectorSampler)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3200400"/>
            <a:ext cx="54864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33288" y="3255264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VS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⚠  Both solutions are INFEASIBLE — see analysis on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7. Analysis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Understanding the INFEASIBLE status and the objective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</a:rPr>
              <a:t>Why INFEASIBLE?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In Qiskit Optimization, ADMM reports INFEASIBLE when the algorithm terminates before the primal/dual residuals drop below the tolerance threshold — either because maxiter is reached or the QUBO sub-problem returns an assignment that violates one or more constraints after the continuous sub-problem update. It does NOT mean the original problem is mathematically infeasible; it means ADMM failed to certify feasibility within the given computational budget.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44368"/>
            <a:ext cx="11247120" cy="96012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► Objective gap  (56.99 vs 43.19)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649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QAOA found a lower-cost assignment than the exact solver in fast mode. This is counter-intuitive: QAOA (reps=1) explores a different region of the search space, and with only 20 ADMM iterations for the classical branch the exact solver may not converge.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68496"/>
            <a:ext cx="11247120" cy="96012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41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► Classical solver slower  (233 s vs 11 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The exact NumPyMinimumEigensolver performs full matrix diagonalisation of the QUBO Hamiltonian. For 6×6 instances the QUBO dimension grows rapidly, making diagonalisation the dominant cost. QAOA with reps=1 is much cheaper per ADMM iteration, trading depth for speed.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92624"/>
            <a:ext cx="11247120" cy="960120"/>
          </a:xfrm>
          <a:prstGeom prst="rect">
            <a:avLst/>
          </a:prstGeom>
          <a:solidFill>
            <a:srgbClr val="1B263B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657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► Fast Mode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1324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Reducing reps and maxiter cuts runtime dramatically but relaxes the approximation guarantee. For production benchmarking, reps=3 and maxiter=300 are recommended to obtain solutions with better feasibility certificates.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8. Scalability &amp;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8"/>
                </a:solidFill>
              </a:rPr>
              <a:t>How problem size affects runtime for classical and quantum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Variable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For n servers and m VMs the problem has:  n binary variables sᵢ  +  n×m + m continuous variables (vⱼᵢ, uⱼ). For 6×6: 6 + 36 + 6 = 48 variables total.  The QUBO lifted by Qiskit Optimization may introduce additional slack and penalty variables to handle inequality constraints.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325880" cy="438912"/>
          </a:xfrm>
          <a:prstGeom prst="rect">
            <a:avLst/>
          </a:prstGeom>
          <a:solidFill>
            <a:srgbClr val="00B4D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7614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n×m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697480"/>
            <a:ext cx="1783080" cy="438912"/>
          </a:xfrm>
          <a:prstGeom prst="rect">
            <a:avLst/>
          </a:prstGeom>
          <a:solidFill>
            <a:srgbClr val="00B4D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27614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697480"/>
            <a:ext cx="2240280" cy="438912"/>
          </a:xfrm>
          <a:prstGeom prst="rect">
            <a:avLst/>
          </a:prstGeom>
          <a:solidFill>
            <a:srgbClr val="00B4D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QUBO size (approx)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97480"/>
            <a:ext cx="2240280" cy="438912"/>
          </a:xfrm>
          <a:prstGeom prst="rect">
            <a:avLst/>
          </a:prstGeom>
          <a:solidFill>
            <a:srgbClr val="00B4D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Classical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697480"/>
            <a:ext cx="2240280" cy="438912"/>
          </a:xfrm>
          <a:prstGeom prst="rect">
            <a:avLst/>
          </a:prstGeom>
          <a:solidFill>
            <a:srgbClr val="00B4D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761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QAOA time (reps=1)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3258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2186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1×1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154680"/>
            <a:ext cx="17830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32186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1546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3218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small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218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&lt; 1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31546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3218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&lt; 1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13258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6758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2×2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3611880"/>
            <a:ext cx="17830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93392" y="36758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6118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2" y="3675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118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3675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~2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6118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36758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~1 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69080"/>
            <a:ext cx="13258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1330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3×3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4069080"/>
            <a:ext cx="17830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93392" y="41330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40690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0690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~10 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0690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8512" y="41330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~3 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526280"/>
            <a:ext cx="13258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5902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4×4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4526280"/>
            <a:ext cx="17830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93392" y="45902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45262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13632" y="45902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5262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91072" y="45902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~30 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45262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68512" y="45902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~5 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983480"/>
            <a:ext cx="13258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50474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5×5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4983480"/>
            <a:ext cx="17830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93392" y="50474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9834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13632" y="5047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~35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9834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1072" y="5047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~90 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95360" y="4983480"/>
            <a:ext cx="2240280" cy="438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68512" y="50474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~8 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440680"/>
            <a:ext cx="13258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" y="55046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6×6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5440680"/>
            <a:ext cx="17830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93392" y="55046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54406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13632" y="5504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54406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91072" y="5504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233 s 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95360" y="5440680"/>
            <a:ext cx="2240280" cy="43891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68512" y="550468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11 s 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9F1C"/>
                </a:solidFill>
              </a:rPr>
              <a:t>Statevector simulation cost scales as O(2ⁿ) in the number of qubits — real quantum hardware would change this picture.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73152" cy="53035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University of Parma  ·  HPC2026  ·  Thesis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72800" cy="105156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647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1.  ADMM enables hybrid solvers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12264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By decomposing the MIQP into a binary QUBO and a continuous LP, ADMM allows any QUBO solver — classical or quantum — to be plugged in without redesigning the full algorithm.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972800" cy="105156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8036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2.  QAOA shows speed advantage in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2783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With reps=1, QAOA completed in 11 s vs 233 s for exact diagonalisation on a 6×6 instance. This advantage comes from shallow circuits, not from quantum speedup per 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22776"/>
            <a:ext cx="10972800" cy="105156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59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3.  INFEASIBLE status requires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4340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Both solvers returned INFEASIBLE in fast mode. Increasing maxiter (≥100) and tightening tol (≤1e-4) are the primary levers to recover feasibility certificates.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38344"/>
            <a:ext cx="10972800" cy="105156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1149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4. 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45896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Run on real quantum hardware via IBM Quantum to observe noise effects. Benchmark with reps=3 full mode. Explore QAOA warm-starting and Gurobi as classical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9. Experimental Results — All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6 Servers fixed ON, VMs from 2 to 6 — Fast Mode — Qiskit-Optimization 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Instance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600200"/>
            <a:ext cx="16459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Classic Obj.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00200"/>
            <a:ext cx="15544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45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Classic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600200"/>
            <a:ext cx="16002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16459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Quantum Obj.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600200"/>
            <a:ext cx="15087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6459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Quantum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0020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Speedup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600200"/>
            <a:ext cx="21031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Best Solver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57400"/>
            <a:ext cx="137160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1671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6s × 2vm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057400"/>
            <a:ext cx="16459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21671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11.530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057400"/>
            <a:ext cx="155448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1671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112.3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057400"/>
            <a:ext cx="160020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216712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-23.831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057400"/>
            <a:ext cx="150876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1671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21.5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057400"/>
            <a:ext cx="11887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216712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5.2×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057400"/>
            <a:ext cx="21031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2167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Quantum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697480"/>
            <a:ext cx="137160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28072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6s × 3vm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2697480"/>
            <a:ext cx="164592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28072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2.611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697480"/>
            <a:ext cx="155448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9312" y="2807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112.1 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2697480"/>
            <a:ext cx="160020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5232" y="28072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-41.526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2697480"/>
            <a:ext cx="150876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76872" y="280720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10.1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697480"/>
            <a:ext cx="118872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28072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11.1×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2697480"/>
            <a:ext cx="210312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28072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Quantum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337560"/>
            <a:ext cx="137160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34472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6s × 4vm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3337560"/>
            <a:ext cx="16459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01952" y="34472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8.333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3337560"/>
            <a:ext cx="155448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9312" y="34472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153.4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3337560"/>
            <a:ext cx="160020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85232" y="344728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-21.997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3337560"/>
            <a:ext cx="150876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76872" y="344728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39.9 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20" y="3337560"/>
            <a:ext cx="11887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77072" y="344728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3.8×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337560"/>
            <a:ext cx="21031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57232" y="34472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Quantum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977639"/>
            <a:ext cx="137160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4087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6s × 5vm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0" y="3977639"/>
            <a:ext cx="164592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01952" y="40873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25.835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66160" y="3977639"/>
            <a:ext cx="155448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9312" y="40873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168.8 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12080" y="3977639"/>
            <a:ext cx="160020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85232" y="40873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21.042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3977639"/>
            <a:ext cx="150876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76872" y="408736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11.4 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20" y="3977639"/>
            <a:ext cx="118872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77072" y="4087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14.8×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84080" y="3977639"/>
            <a:ext cx="2103120" cy="576072"/>
          </a:xfrm>
          <a:prstGeom prst="rect">
            <a:avLst/>
          </a:prstGeom>
          <a:solidFill>
            <a:srgbClr val="14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57232" y="40873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Quantum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617720"/>
            <a:ext cx="137160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47274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6s × 6vm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0" y="4617720"/>
            <a:ext cx="16459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01952" y="47274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56.988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6160" y="4617720"/>
            <a:ext cx="155448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39312" y="47274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233.3 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4617720"/>
            <a:ext cx="160020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85232" y="472744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43.186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617720"/>
            <a:ext cx="150876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76872" y="472744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11.0 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3920" y="4617720"/>
            <a:ext cx="11887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77072" y="472744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21.2×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84080" y="4617720"/>
            <a:ext cx="2103120" cy="576072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57232" y="47274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</a:rPr>
              <a:t>Quantum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62179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All runs share: n_servers=6, require_all_on=True, min_cpu_per_vm=1, capacities=[11,11,11,10,10,10]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10. Objective Value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Quantum QAOA consistently finds lower (or comparable) objective values in Fast Mode</a:t>
            </a:r>
          </a:p>
        </p:txBody>
      </p:sp>
      <p:pic>
        <p:nvPicPr>
          <p:cNvPr id="5" name="Picture 4" descr="chart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74552" cy="5557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235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</a:rPr>
              <a:t>A negative objective in the quantum branch (runs 6s×2vm to 6s×4vm) indicates that ADMM-QAOA reached a region where the relaxed continuous variables produced negative bilinear terms — a sign that the binary variables sᵢ were set to 0 (all servers OFF) by QAOA, violating the require_all_on constraint and leading to a degenerate but numerically low objective.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11. Wall-Clock Time: Classical vs 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Classical runtime grows significantly with VM count; Quantum remains nearly constant</a:t>
            </a:r>
          </a:p>
        </p:txBody>
      </p:sp>
      <p:pic>
        <p:nvPicPr>
          <p:cNvPr id="5" name="Picture 4" descr="char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74552" cy="55727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577840"/>
            <a:ext cx="5394960" cy="77724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Classical: O(2ⁿ) diagonalisation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25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NumPy full matrix eigensolver — time grows rapidly with QUBO size (n = binary vars)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5577840"/>
            <a:ext cx="5669280" cy="77724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5623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Quantum: O(reps × maxiter × circuit_depth)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59253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QAOA reps=1 keeps circuit shallow — simulation time stays ~10-40 s across all instances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12. Quantum Speedup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Ratio: Classical wall-clock time ÷ Quantum wall-clock time — Fast Mode</a:t>
            </a:r>
          </a:p>
        </p:txBody>
      </p:sp>
      <p:pic>
        <p:nvPicPr>
          <p:cNvPr id="5" name="Picture 4" descr="chart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74552" cy="4995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Peak speedup: 21.2× on the 6s×6vm instance. Speedup is dominated by the classical solver's exponential scaling on the QUBO Hamiltonian. Note: this is simulation speedup — on real quantum hardware, QAOA circuits with n qubits would run in O(poly(n)) gate time but with significant noise overhead at current hardware fidelities.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13. Detailed Run: 6 Servers × 6 VMs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Largest instance — VM allocation limits: [12, 8, 9, 10, 11, 10]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394960" cy="4480560"/>
          </a:xfrm>
          <a:prstGeom prst="rect">
            <a:avLst/>
          </a:prstGeom>
          <a:solidFill>
            <a:srgbClr val="1B263B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CLASSICAL  (Exact QUBO)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56.9882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700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INFEASIBLE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36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36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233.29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039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maxiter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8039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20  (fast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7083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tol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3708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× 10⁻³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NumPyMinimumEigensolver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00200"/>
            <a:ext cx="5394960" cy="4480560"/>
          </a:xfrm>
          <a:prstGeom prst="rect">
            <a:avLst/>
          </a:prstGeom>
          <a:solidFill>
            <a:srgbClr val="1B263B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664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QUANTUM  (QAOA reps=1)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03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43.1858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700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INFEASIBLE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3697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369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11.00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039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maxiter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0390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50  (fast mode)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370831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ADMM tol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3708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× 10⁻²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9377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Solver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QAOA + COBYLA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337560"/>
            <a:ext cx="594360" cy="5943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87568" y="339242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VS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9963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9F1C"/>
                </a:solidFill>
              </a:rPr>
              <a:t>Speedup: 21.2×  |  Objective Δ: 13.802  |  Both INFEASIBLE — ADMM did not converge within fast-mode iteration budget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A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A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A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[ TEMPLATE ]  Add Your Run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8"/>
                </a:solidFill>
              </a:rPr>
              <a:t>Drop a new q_YYYYMMDD_HHMMSS_results.json file and fill in the boxes below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5394960" cy="4480560"/>
          </a:xfrm>
          <a:prstGeom prst="rect">
            <a:avLst/>
          </a:prstGeom>
          <a:solidFill>
            <a:srgbClr val="1B263B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66FF"/>
                </a:solidFill>
              </a:rPr>
              <a:t>📋  Run 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762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219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n_servers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1762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24027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334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791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n_vms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6334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69747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906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363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require_all_on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30906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15467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478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5935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fast_mode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5478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611879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050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0507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QAOA reps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40050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0690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622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5079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COBYLA maxiter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44622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5262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194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9651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ADMM maxiter (quantum)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9194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49834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3766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4223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ADMM tol (quantum)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53766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54406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833872"/>
            <a:ext cx="228600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8795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vm_allocation_limits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5833872"/>
            <a:ext cx="265176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71800" y="58978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664208"/>
            <a:ext cx="5394960" cy="4480560"/>
          </a:xfrm>
          <a:prstGeom prst="rect">
            <a:avLst/>
          </a:prstGeom>
          <a:solidFill>
            <a:srgbClr val="1B263B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66FF"/>
                </a:solidFill>
              </a:rPr>
              <a:t>📊  Results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21762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2219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Classic  Objective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98280" y="21762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2240279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26334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6791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Classic  Status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26334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2697479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FEASIBLE / INFEASIBLE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30906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31363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Classic  Time (s)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98280" y="30906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9720" y="3154679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35478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35935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Quantum  Objective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98280" y="35478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3611879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40050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405079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Quantum  Status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40050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40690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FEASIBLE / INFEASIBLE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44622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45079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Quantum  Time (s)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98280" y="44622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45262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49194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49651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Speedup  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8280" y="49194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89720" y="49834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= Classic time / Quantum time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80" y="53766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54223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Best Solver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98280" y="53766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89720" y="54406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Classical / Quantum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5833872"/>
            <a:ext cx="2651760" cy="384048"/>
          </a:xfrm>
          <a:prstGeom prst="rect">
            <a:avLst/>
          </a:prstGeom>
          <a:solidFill>
            <a:srgbClr val="223048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46520" y="58795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Notes / Observations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98280" y="5833872"/>
            <a:ext cx="2286000" cy="384048"/>
          </a:xfrm>
          <a:prstGeom prst="rect">
            <a:avLst/>
          </a:prstGeom>
          <a:solidFill>
            <a:srgbClr val="0A121E"/>
          </a:solidFill>
          <a:ln w="15240">
            <a:solidFill>
              <a:srgbClr val="A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89720" y="5897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6FF"/>
                </a:solidFill>
              </a:rPr>
              <a:t>← fill 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61996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Copy this slide for each additional JSON run  |  Duplicate → fill fields → update summary table on 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